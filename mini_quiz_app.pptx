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g+XaeLO87RSD7bq2p1VBFfHF9/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0497"/>
  </p:normalViewPr>
  <p:slideViewPr>
    <p:cSldViewPr snapToGrid="0">
      <p:cViewPr varScale="1">
        <p:scale>
          <a:sx n="71" d="100"/>
          <a:sy n="71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6" name="Google Shape;13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4" name="Google Shape;15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71" name="Google Shape;17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183" name="Google Shape;18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9" name="Google Shape;19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20" b="-921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" name="Google Shape;90;p1"/>
          <p:cNvGrpSpPr/>
          <p:nvPr/>
        </p:nvGrpSpPr>
        <p:grpSpPr>
          <a:xfrm>
            <a:off x="780890" y="8729689"/>
            <a:ext cx="16726220" cy="912562"/>
            <a:chOff x="0" y="-38100"/>
            <a:chExt cx="4405260" cy="240345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4405260" cy="202245"/>
            </a:xfrm>
            <a:custGeom>
              <a:avLst/>
              <a:gdLst/>
              <a:ahLst/>
              <a:cxnLst/>
              <a:rect l="l" t="t" r="r" b="b"/>
              <a:pathLst>
                <a:path w="4405260" h="202245" extrusionOk="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155959"/>
                  </a:lnTo>
                  <a:cubicBezTo>
                    <a:pt x="4405260" y="168235"/>
                    <a:pt x="4400383" y="180008"/>
                    <a:pt x="4391703" y="188689"/>
                  </a:cubicBezTo>
                  <a:cubicBezTo>
                    <a:pt x="4383022" y="197369"/>
                    <a:pt x="4371249" y="202245"/>
                    <a:pt x="4358974" y="202245"/>
                  </a:cubicBezTo>
                  <a:lnTo>
                    <a:pt x="46286" y="202245"/>
                  </a:lnTo>
                  <a:cubicBezTo>
                    <a:pt x="20723" y="202245"/>
                    <a:pt x="0" y="181522"/>
                    <a:pt x="0" y="155959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0" y="-38100"/>
              <a:ext cx="4405260" cy="2403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"/>
          <p:cNvSpPr txBox="1"/>
          <p:nvPr/>
        </p:nvSpPr>
        <p:spPr>
          <a:xfrm>
            <a:off x="2776554" y="3362183"/>
            <a:ext cx="12734892" cy="315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61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Mini Quiz Application</a:t>
            </a:r>
            <a:endParaRPr/>
          </a:p>
          <a:p>
            <a:pPr marL="0" marR="0" lvl="0" indent="0" algn="ctr" rtl="0">
              <a:lnSpc>
                <a:spcPct val="12940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861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3806186" y="9069705"/>
            <a:ext cx="3167364" cy="39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94BA"/>
                </a:solidFill>
                <a:latin typeface="Arial"/>
                <a:ea typeface="Arial"/>
                <a:cs typeface="Arial"/>
                <a:sym typeface="Arial"/>
              </a:rPr>
              <a:t>Zhenghao Zhang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1314450" y="9069705"/>
            <a:ext cx="2956891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94BA"/>
                </a:solidFill>
                <a:latin typeface="Arial"/>
                <a:ea typeface="Arial"/>
                <a:cs typeface="Arial"/>
                <a:sym typeface="Arial"/>
              </a:rPr>
              <a:t>2025 Aprill 23</a:t>
            </a:r>
            <a:endParaRPr sz="2400">
              <a:solidFill>
                <a:srgbClr val="4E94B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780890" y="500089"/>
            <a:ext cx="16726220" cy="912562"/>
            <a:chOff x="0" y="-38100"/>
            <a:chExt cx="4405260" cy="240345"/>
          </a:xfrm>
        </p:grpSpPr>
        <p:sp>
          <p:nvSpPr>
            <p:cNvPr id="97" name="Google Shape;97;p1"/>
            <p:cNvSpPr/>
            <p:nvPr/>
          </p:nvSpPr>
          <p:spPr>
            <a:xfrm>
              <a:off x="0" y="0"/>
              <a:ext cx="4405260" cy="202245"/>
            </a:xfrm>
            <a:custGeom>
              <a:avLst/>
              <a:gdLst/>
              <a:ahLst/>
              <a:cxnLst/>
              <a:rect l="l" t="t" r="r" b="b"/>
              <a:pathLst>
                <a:path w="4405260" h="202245" extrusionOk="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155959"/>
                  </a:lnTo>
                  <a:cubicBezTo>
                    <a:pt x="4405260" y="168235"/>
                    <a:pt x="4400383" y="180008"/>
                    <a:pt x="4391703" y="188689"/>
                  </a:cubicBezTo>
                  <a:cubicBezTo>
                    <a:pt x="4383022" y="197369"/>
                    <a:pt x="4371249" y="202245"/>
                    <a:pt x="4358974" y="202245"/>
                  </a:cubicBezTo>
                  <a:lnTo>
                    <a:pt x="46286" y="202245"/>
                  </a:lnTo>
                  <a:cubicBezTo>
                    <a:pt x="20723" y="202245"/>
                    <a:pt x="0" y="181522"/>
                    <a:pt x="0" y="155959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0" y="-38100"/>
              <a:ext cx="4405260" cy="2403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94BA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t="-9220" b="-921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" name="Google Shape;105;p2"/>
          <p:cNvGrpSpPr/>
          <p:nvPr/>
        </p:nvGrpSpPr>
        <p:grpSpPr>
          <a:xfrm>
            <a:off x="780890" y="8729689"/>
            <a:ext cx="16726220" cy="912562"/>
            <a:chOff x="0" y="-38100"/>
            <a:chExt cx="4405260" cy="240345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4405260" cy="202245"/>
            </a:xfrm>
            <a:custGeom>
              <a:avLst/>
              <a:gdLst/>
              <a:ahLst/>
              <a:cxnLst/>
              <a:rect l="l" t="t" r="r" b="b"/>
              <a:pathLst>
                <a:path w="4405260" h="202245" extrusionOk="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155959"/>
                  </a:lnTo>
                  <a:cubicBezTo>
                    <a:pt x="4405260" y="168235"/>
                    <a:pt x="4400383" y="180008"/>
                    <a:pt x="4391703" y="188689"/>
                  </a:cubicBezTo>
                  <a:cubicBezTo>
                    <a:pt x="4383022" y="197369"/>
                    <a:pt x="4371249" y="202245"/>
                    <a:pt x="4358974" y="202245"/>
                  </a:cubicBezTo>
                  <a:lnTo>
                    <a:pt x="46286" y="202245"/>
                  </a:lnTo>
                  <a:cubicBezTo>
                    <a:pt x="20723" y="202245"/>
                    <a:pt x="0" y="181522"/>
                    <a:pt x="0" y="155959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0" y="-38100"/>
              <a:ext cx="4405260" cy="2403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2"/>
          <p:cNvSpPr txBox="1"/>
          <p:nvPr/>
        </p:nvSpPr>
        <p:spPr>
          <a:xfrm>
            <a:off x="13806186" y="9069705"/>
            <a:ext cx="3167364" cy="39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94B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grpSp>
        <p:nvGrpSpPr>
          <p:cNvPr id="109" name="Google Shape;109;p2"/>
          <p:cNvGrpSpPr/>
          <p:nvPr/>
        </p:nvGrpSpPr>
        <p:grpSpPr>
          <a:xfrm>
            <a:off x="780890" y="500089"/>
            <a:ext cx="16726220" cy="2110075"/>
            <a:chOff x="0" y="-38100"/>
            <a:chExt cx="4405260" cy="555740"/>
          </a:xfrm>
        </p:grpSpPr>
        <p:sp>
          <p:nvSpPr>
            <p:cNvPr id="110" name="Google Shape;110;p2"/>
            <p:cNvSpPr/>
            <p:nvPr/>
          </p:nvSpPr>
          <p:spPr>
            <a:xfrm>
              <a:off x="0" y="0"/>
              <a:ext cx="4405260" cy="517640"/>
            </a:xfrm>
            <a:custGeom>
              <a:avLst/>
              <a:gdLst/>
              <a:ahLst/>
              <a:cxnLst/>
              <a:rect l="l" t="t" r="r" b="b"/>
              <a:pathLst>
                <a:path w="4405260" h="517640" extrusionOk="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471354"/>
                  </a:lnTo>
                  <a:cubicBezTo>
                    <a:pt x="4405260" y="496917"/>
                    <a:pt x="4384537" y="517640"/>
                    <a:pt x="4358974" y="517640"/>
                  </a:cubicBezTo>
                  <a:lnTo>
                    <a:pt x="46286" y="517640"/>
                  </a:lnTo>
                  <a:cubicBezTo>
                    <a:pt x="20723" y="517640"/>
                    <a:pt x="0" y="496917"/>
                    <a:pt x="0" y="471354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0" y="-38100"/>
              <a:ext cx="4405260" cy="5557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2"/>
          <p:cNvSpPr txBox="1"/>
          <p:nvPr/>
        </p:nvSpPr>
        <p:spPr>
          <a:xfrm>
            <a:off x="1687474" y="1085880"/>
            <a:ext cx="15286076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Key Features Implemented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1028700" y="2875730"/>
            <a:ext cx="16230600" cy="636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Mini Quiz is a multiplayer Python quiz game built with Tkinter.</a:t>
            </a:r>
            <a:endParaRPr/>
          </a:p>
          <a:p>
            <a:pPr marL="457200" marR="0" lvl="0" indent="-45720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Char char="•"/>
            </a:pPr>
            <a:r>
              <a:rPr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Each player answers the same 5 randomly chosen questions.</a:t>
            </a:r>
            <a:endParaRPr/>
          </a:p>
          <a:p>
            <a:pPr marL="457200" marR="0" lvl="0" indent="-45720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Char char="•"/>
            </a:pPr>
            <a:r>
              <a:rPr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Each question has a 20-second countdown and time-based bonus scoring.</a:t>
            </a:r>
            <a:endParaRPr/>
          </a:p>
          <a:p>
            <a:pPr marL="457200" marR="0" lvl="0" indent="-45720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Char char="•"/>
            </a:pPr>
            <a:r>
              <a:rPr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Questions and leaderboard are stored in external JSON files.</a:t>
            </a:r>
            <a:endParaRPr/>
          </a:p>
          <a:p>
            <a:pPr marL="457200" marR="0" lvl="0" indent="-45720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Char char="•"/>
            </a:pPr>
            <a:r>
              <a:rPr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project showcases how GUI, timing, scoring logic, and file I/O work together in Python.</a:t>
            </a:r>
            <a:endParaRPr/>
          </a:p>
          <a:p>
            <a:pPr marL="0" marR="0" lvl="0" indent="0" algn="l" rtl="0">
              <a:lnSpc>
                <a:spcPct val="140015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3806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806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1314450" y="9069705"/>
            <a:ext cx="2956891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94BA"/>
                </a:solidFill>
                <a:latin typeface="Arial"/>
                <a:ea typeface="Arial"/>
                <a:cs typeface="Arial"/>
                <a:sym typeface="Arial"/>
              </a:rPr>
              <a:t>2025 Aprill 23</a:t>
            </a:r>
            <a:endParaRPr sz="2400">
              <a:solidFill>
                <a:srgbClr val="4E94B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94BA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t="-9220" b="-921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" name="Google Shape;121;p3"/>
          <p:cNvGrpSpPr/>
          <p:nvPr/>
        </p:nvGrpSpPr>
        <p:grpSpPr>
          <a:xfrm>
            <a:off x="780890" y="500089"/>
            <a:ext cx="16726220" cy="1783733"/>
            <a:chOff x="0" y="-38100"/>
            <a:chExt cx="4405260" cy="469790"/>
          </a:xfrm>
        </p:grpSpPr>
        <p:sp>
          <p:nvSpPr>
            <p:cNvPr id="122" name="Google Shape;122;p3"/>
            <p:cNvSpPr/>
            <p:nvPr/>
          </p:nvSpPr>
          <p:spPr>
            <a:xfrm>
              <a:off x="0" y="0"/>
              <a:ext cx="4405260" cy="431690"/>
            </a:xfrm>
            <a:custGeom>
              <a:avLst/>
              <a:gdLst/>
              <a:ahLst/>
              <a:cxnLst/>
              <a:rect l="l" t="t" r="r" b="b"/>
              <a:pathLst>
                <a:path w="4405260" h="431690" extrusionOk="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385404"/>
                  </a:lnTo>
                  <a:cubicBezTo>
                    <a:pt x="4405260" y="410967"/>
                    <a:pt x="4384537" y="431690"/>
                    <a:pt x="4358974" y="431690"/>
                  </a:cubicBezTo>
                  <a:lnTo>
                    <a:pt x="46286" y="431690"/>
                  </a:lnTo>
                  <a:cubicBezTo>
                    <a:pt x="20723" y="431690"/>
                    <a:pt x="0" y="410967"/>
                    <a:pt x="0" y="385404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3"/>
            <p:cNvSpPr txBox="1"/>
            <p:nvPr/>
          </p:nvSpPr>
          <p:spPr>
            <a:xfrm>
              <a:off x="0" y="-38100"/>
              <a:ext cx="4405260" cy="4697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3"/>
          <p:cNvGrpSpPr/>
          <p:nvPr/>
        </p:nvGrpSpPr>
        <p:grpSpPr>
          <a:xfrm>
            <a:off x="780890" y="8729689"/>
            <a:ext cx="16726220" cy="912562"/>
            <a:chOff x="0" y="-38100"/>
            <a:chExt cx="4405260" cy="240345"/>
          </a:xfrm>
        </p:grpSpPr>
        <p:sp>
          <p:nvSpPr>
            <p:cNvPr id="125" name="Google Shape;125;p3"/>
            <p:cNvSpPr/>
            <p:nvPr/>
          </p:nvSpPr>
          <p:spPr>
            <a:xfrm>
              <a:off x="0" y="0"/>
              <a:ext cx="4405260" cy="202245"/>
            </a:xfrm>
            <a:custGeom>
              <a:avLst/>
              <a:gdLst/>
              <a:ahLst/>
              <a:cxnLst/>
              <a:rect l="l" t="t" r="r" b="b"/>
              <a:pathLst>
                <a:path w="4405260" h="202245" extrusionOk="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155959"/>
                  </a:lnTo>
                  <a:cubicBezTo>
                    <a:pt x="4405260" y="168235"/>
                    <a:pt x="4400383" y="180008"/>
                    <a:pt x="4391703" y="188689"/>
                  </a:cubicBezTo>
                  <a:cubicBezTo>
                    <a:pt x="4383022" y="197369"/>
                    <a:pt x="4371249" y="202245"/>
                    <a:pt x="4358974" y="202245"/>
                  </a:cubicBezTo>
                  <a:lnTo>
                    <a:pt x="46286" y="202245"/>
                  </a:lnTo>
                  <a:cubicBezTo>
                    <a:pt x="20723" y="202245"/>
                    <a:pt x="0" y="181522"/>
                    <a:pt x="0" y="155959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3"/>
            <p:cNvSpPr txBox="1"/>
            <p:nvPr/>
          </p:nvSpPr>
          <p:spPr>
            <a:xfrm>
              <a:off x="0" y="-38100"/>
              <a:ext cx="4405260" cy="2403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3"/>
          <p:cNvSpPr txBox="1"/>
          <p:nvPr/>
        </p:nvSpPr>
        <p:spPr>
          <a:xfrm>
            <a:off x="13806186" y="9069705"/>
            <a:ext cx="3167364" cy="39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94BA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1687474" y="1309094"/>
            <a:ext cx="15571826" cy="974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Theoretical Concepts Applied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1028700" y="2990218"/>
            <a:ext cx="16230600" cy="315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45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 Flow</a:t>
            </a:r>
            <a:endParaRPr/>
          </a:p>
          <a:p>
            <a:pPr marL="635899" marR="0" lvl="1" indent="-317948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45"/>
              <a:buFont typeface="Arial"/>
              <a:buChar char="•"/>
            </a:pPr>
            <a:r>
              <a:rPr lang="en-US" sz="294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project demonstrates logical flow control through if-else statements(Short-Circuit Evaluation) and loops, which are essential for managing the quiz’s question flow.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45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45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1314450" y="9069705"/>
            <a:ext cx="2956891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94BA"/>
                </a:solidFill>
                <a:latin typeface="Arial"/>
                <a:ea typeface="Arial"/>
                <a:cs typeface="Arial"/>
                <a:sym typeface="Arial"/>
              </a:rPr>
              <a:t>2025 Aprill 23</a:t>
            </a:r>
            <a:endParaRPr sz="2400">
              <a:solidFill>
                <a:srgbClr val="4E94B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5318192"/>
            <a:ext cx="17449800" cy="770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37167" y="7093827"/>
            <a:ext cx="15013664" cy="610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94BA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t="-9220" b="-921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9" name="Google Shape;139;p4"/>
          <p:cNvGrpSpPr/>
          <p:nvPr/>
        </p:nvGrpSpPr>
        <p:grpSpPr>
          <a:xfrm>
            <a:off x="780890" y="500089"/>
            <a:ext cx="16726220" cy="1783733"/>
            <a:chOff x="0" y="-38100"/>
            <a:chExt cx="4405260" cy="469790"/>
          </a:xfrm>
        </p:grpSpPr>
        <p:sp>
          <p:nvSpPr>
            <p:cNvPr id="140" name="Google Shape;140;p4"/>
            <p:cNvSpPr/>
            <p:nvPr/>
          </p:nvSpPr>
          <p:spPr>
            <a:xfrm>
              <a:off x="0" y="0"/>
              <a:ext cx="4405260" cy="431690"/>
            </a:xfrm>
            <a:custGeom>
              <a:avLst/>
              <a:gdLst/>
              <a:ahLst/>
              <a:cxnLst/>
              <a:rect l="l" t="t" r="r" b="b"/>
              <a:pathLst>
                <a:path w="4405260" h="431690" extrusionOk="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385404"/>
                  </a:lnTo>
                  <a:cubicBezTo>
                    <a:pt x="4405260" y="410967"/>
                    <a:pt x="4384537" y="431690"/>
                    <a:pt x="4358974" y="431690"/>
                  </a:cubicBezTo>
                  <a:lnTo>
                    <a:pt x="46286" y="431690"/>
                  </a:lnTo>
                  <a:cubicBezTo>
                    <a:pt x="20723" y="431690"/>
                    <a:pt x="0" y="410967"/>
                    <a:pt x="0" y="385404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4"/>
            <p:cNvSpPr txBox="1"/>
            <p:nvPr/>
          </p:nvSpPr>
          <p:spPr>
            <a:xfrm>
              <a:off x="0" y="-38100"/>
              <a:ext cx="4405260" cy="4697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4"/>
          <p:cNvGrpSpPr/>
          <p:nvPr/>
        </p:nvGrpSpPr>
        <p:grpSpPr>
          <a:xfrm>
            <a:off x="780890" y="8729689"/>
            <a:ext cx="16726220" cy="912562"/>
            <a:chOff x="0" y="-38100"/>
            <a:chExt cx="4405260" cy="240345"/>
          </a:xfrm>
        </p:grpSpPr>
        <p:sp>
          <p:nvSpPr>
            <p:cNvPr id="143" name="Google Shape;143;p4"/>
            <p:cNvSpPr/>
            <p:nvPr/>
          </p:nvSpPr>
          <p:spPr>
            <a:xfrm>
              <a:off x="0" y="0"/>
              <a:ext cx="4405260" cy="202245"/>
            </a:xfrm>
            <a:custGeom>
              <a:avLst/>
              <a:gdLst/>
              <a:ahLst/>
              <a:cxnLst/>
              <a:rect l="l" t="t" r="r" b="b"/>
              <a:pathLst>
                <a:path w="4405260" h="202245" extrusionOk="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155959"/>
                  </a:lnTo>
                  <a:cubicBezTo>
                    <a:pt x="4405260" y="168235"/>
                    <a:pt x="4400383" y="180008"/>
                    <a:pt x="4391703" y="188689"/>
                  </a:cubicBezTo>
                  <a:cubicBezTo>
                    <a:pt x="4383022" y="197369"/>
                    <a:pt x="4371249" y="202245"/>
                    <a:pt x="4358974" y="202245"/>
                  </a:cubicBezTo>
                  <a:lnTo>
                    <a:pt x="46286" y="202245"/>
                  </a:lnTo>
                  <a:cubicBezTo>
                    <a:pt x="20723" y="202245"/>
                    <a:pt x="0" y="181522"/>
                    <a:pt x="0" y="155959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4"/>
            <p:cNvSpPr txBox="1"/>
            <p:nvPr/>
          </p:nvSpPr>
          <p:spPr>
            <a:xfrm>
              <a:off x="0" y="-38100"/>
              <a:ext cx="4405260" cy="2403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4"/>
          <p:cNvSpPr txBox="1"/>
          <p:nvPr/>
        </p:nvSpPr>
        <p:spPr>
          <a:xfrm>
            <a:off x="13806186" y="9069705"/>
            <a:ext cx="3167364" cy="39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94BA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1687474" y="1309094"/>
            <a:ext cx="15571826" cy="974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Theoretical Concepts Applied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1063336" y="2479177"/>
            <a:ext cx="16230600" cy="4732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45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Syntax and Semantics: </a:t>
            </a:r>
            <a:endParaRPr/>
          </a:p>
          <a:p>
            <a:pPr marL="635899" marR="0" lvl="1" indent="-317948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45"/>
              <a:buFont typeface="Arial"/>
              <a:buChar char="•"/>
            </a:pPr>
            <a:r>
              <a:rPr lang="en-US" sz="294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program follows to Python’s indentation rules, function structure, and conditional expressions.</a:t>
            </a:r>
            <a:endParaRPr/>
          </a:p>
          <a:p>
            <a:pPr marL="635899" marR="0" lvl="1" indent="-317948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45"/>
              <a:buFont typeface="Arial"/>
              <a:buChar char="•"/>
            </a:pPr>
            <a:r>
              <a:rPr lang="en-US" sz="294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 input is correctly processed and case-insensitive.</a:t>
            </a:r>
            <a:endParaRPr/>
          </a:p>
          <a:p>
            <a:pPr marL="635899" marR="0" lvl="1" indent="-13094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45"/>
              <a:buFont typeface="Arial"/>
              <a:buNone/>
            </a:pPr>
            <a:endParaRPr sz="2945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5899" marR="0" lvl="1" indent="-317948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45"/>
              <a:buFont typeface="Arial"/>
              <a:buChar char="•"/>
            </a:pPr>
            <a:r>
              <a:rPr lang="en-US" sz="294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Scores are calculated without producing negative values.</a:t>
            </a:r>
            <a:endParaRPr/>
          </a:p>
          <a:p>
            <a:pPr marL="635899" marR="0" lvl="1" indent="-317948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45"/>
              <a:buFont typeface="Arial"/>
              <a:buChar char="•"/>
            </a:pPr>
            <a:r>
              <a:rPr lang="en-US" sz="294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Errors (like valid input) are handled gracefully, preventing program crashes.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45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45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1314450" y="9069705"/>
            <a:ext cx="2956891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94BA"/>
                </a:solidFill>
                <a:latin typeface="Arial"/>
                <a:ea typeface="Arial"/>
                <a:cs typeface="Arial"/>
                <a:sym typeface="Arial"/>
              </a:rPr>
              <a:t>2025 Aprill 23</a:t>
            </a:r>
            <a:endParaRPr sz="2400">
              <a:solidFill>
                <a:srgbClr val="4E94B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87474" y="4871272"/>
            <a:ext cx="10275925" cy="544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2004" y="6059524"/>
            <a:ext cx="16192660" cy="2678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94BA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t="-9220" b="-921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" name="Google Shape;157;p5"/>
          <p:cNvGrpSpPr/>
          <p:nvPr/>
        </p:nvGrpSpPr>
        <p:grpSpPr>
          <a:xfrm>
            <a:off x="780890" y="500089"/>
            <a:ext cx="16726220" cy="1783733"/>
            <a:chOff x="0" y="-38100"/>
            <a:chExt cx="4405260" cy="469790"/>
          </a:xfrm>
        </p:grpSpPr>
        <p:sp>
          <p:nvSpPr>
            <p:cNvPr id="158" name="Google Shape;158;p5"/>
            <p:cNvSpPr/>
            <p:nvPr/>
          </p:nvSpPr>
          <p:spPr>
            <a:xfrm>
              <a:off x="0" y="0"/>
              <a:ext cx="4405260" cy="431690"/>
            </a:xfrm>
            <a:custGeom>
              <a:avLst/>
              <a:gdLst/>
              <a:ahLst/>
              <a:cxnLst/>
              <a:rect l="l" t="t" r="r" b="b"/>
              <a:pathLst>
                <a:path w="4405260" h="431690" extrusionOk="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385404"/>
                  </a:lnTo>
                  <a:cubicBezTo>
                    <a:pt x="4405260" y="410967"/>
                    <a:pt x="4384537" y="431690"/>
                    <a:pt x="4358974" y="431690"/>
                  </a:cubicBezTo>
                  <a:lnTo>
                    <a:pt x="46286" y="431690"/>
                  </a:lnTo>
                  <a:cubicBezTo>
                    <a:pt x="20723" y="431690"/>
                    <a:pt x="0" y="410967"/>
                    <a:pt x="0" y="385404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5"/>
            <p:cNvSpPr txBox="1"/>
            <p:nvPr/>
          </p:nvSpPr>
          <p:spPr>
            <a:xfrm>
              <a:off x="0" y="-38100"/>
              <a:ext cx="4405260" cy="4697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5"/>
          <p:cNvGrpSpPr/>
          <p:nvPr/>
        </p:nvGrpSpPr>
        <p:grpSpPr>
          <a:xfrm>
            <a:off x="780890" y="8729689"/>
            <a:ext cx="16726220" cy="912562"/>
            <a:chOff x="0" y="-38100"/>
            <a:chExt cx="4405260" cy="240345"/>
          </a:xfrm>
        </p:grpSpPr>
        <p:sp>
          <p:nvSpPr>
            <p:cNvPr id="161" name="Google Shape;161;p5"/>
            <p:cNvSpPr/>
            <p:nvPr/>
          </p:nvSpPr>
          <p:spPr>
            <a:xfrm>
              <a:off x="0" y="0"/>
              <a:ext cx="4405260" cy="202245"/>
            </a:xfrm>
            <a:custGeom>
              <a:avLst/>
              <a:gdLst/>
              <a:ahLst/>
              <a:cxnLst/>
              <a:rect l="l" t="t" r="r" b="b"/>
              <a:pathLst>
                <a:path w="4405260" h="202245" extrusionOk="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155959"/>
                  </a:lnTo>
                  <a:cubicBezTo>
                    <a:pt x="4405260" y="168235"/>
                    <a:pt x="4400383" y="180008"/>
                    <a:pt x="4391703" y="188689"/>
                  </a:cubicBezTo>
                  <a:cubicBezTo>
                    <a:pt x="4383022" y="197369"/>
                    <a:pt x="4371249" y="202245"/>
                    <a:pt x="4358974" y="202245"/>
                  </a:cubicBezTo>
                  <a:lnTo>
                    <a:pt x="46286" y="202245"/>
                  </a:lnTo>
                  <a:cubicBezTo>
                    <a:pt x="20723" y="202245"/>
                    <a:pt x="0" y="181522"/>
                    <a:pt x="0" y="155959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5"/>
            <p:cNvSpPr txBox="1"/>
            <p:nvPr/>
          </p:nvSpPr>
          <p:spPr>
            <a:xfrm>
              <a:off x="0" y="-38100"/>
              <a:ext cx="4405260" cy="2403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p5"/>
          <p:cNvSpPr txBox="1"/>
          <p:nvPr/>
        </p:nvSpPr>
        <p:spPr>
          <a:xfrm>
            <a:off x="13806186" y="9069705"/>
            <a:ext cx="3167364" cy="39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94BA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164" name="Google Shape;164;p5"/>
          <p:cNvSpPr txBox="1"/>
          <p:nvPr/>
        </p:nvSpPr>
        <p:spPr>
          <a:xfrm>
            <a:off x="1687474" y="1309094"/>
            <a:ext cx="15571826" cy="974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Theoretical Concepts Applied</a:t>
            </a:r>
            <a:endParaRPr/>
          </a:p>
        </p:txBody>
      </p:sp>
      <p:sp>
        <p:nvSpPr>
          <p:cNvPr id="165" name="Google Shape;165;p5"/>
          <p:cNvSpPr txBox="1"/>
          <p:nvPr/>
        </p:nvSpPr>
        <p:spPr>
          <a:xfrm>
            <a:off x="1028700" y="2776040"/>
            <a:ext cx="16478410" cy="1221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1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9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Object-Oriented Programming (OOP)</a:t>
            </a:r>
            <a:endParaRPr/>
          </a:p>
          <a:p>
            <a:pPr marL="0" marR="0" lvl="0" indent="0" algn="l" rtl="0">
              <a:lnSpc>
                <a:spcPct val="15579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9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1314450" y="9069705"/>
            <a:ext cx="2956891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94BA"/>
                </a:solidFill>
                <a:latin typeface="Arial"/>
                <a:ea typeface="Arial"/>
                <a:cs typeface="Arial"/>
                <a:sym typeface="Arial"/>
              </a:rPr>
              <a:t>2025 Aprill 23</a:t>
            </a:r>
            <a:endParaRPr sz="2400">
              <a:solidFill>
                <a:srgbClr val="4E94B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38399" y="3517099"/>
            <a:ext cx="6160011" cy="5076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94BA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t="-9220" b="-921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4" name="Google Shape;174;p6"/>
          <p:cNvGrpSpPr/>
          <p:nvPr/>
        </p:nvGrpSpPr>
        <p:grpSpPr>
          <a:xfrm>
            <a:off x="780890" y="8729689"/>
            <a:ext cx="16726220" cy="912562"/>
            <a:chOff x="0" y="-38100"/>
            <a:chExt cx="4405260" cy="240345"/>
          </a:xfrm>
        </p:grpSpPr>
        <p:sp>
          <p:nvSpPr>
            <p:cNvPr id="175" name="Google Shape;175;p6"/>
            <p:cNvSpPr/>
            <p:nvPr/>
          </p:nvSpPr>
          <p:spPr>
            <a:xfrm>
              <a:off x="0" y="0"/>
              <a:ext cx="4405260" cy="202245"/>
            </a:xfrm>
            <a:custGeom>
              <a:avLst/>
              <a:gdLst/>
              <a:ahLst/>
              <a:cxnLst/>
              <a:rect l="l" t="t" r="r" b="b"/>
              <a:pathLst>
                <a:path w="4405260" h="202245" extrusionOk="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155959"/>
                  </a:lnTo>
                  <a:cubicBezTo>
                    <a:pt x="4405260" y="168235"/>
                    <a:pt x="4400383" y="180008"/>
                    <a:pt x="4391703" y="188689"/>
                  </a:cubicBezTo>
                  <a:cubicBezTo>
                    <a:pt x="4383022" y="197369"/>
                    <a:pt x="4371249" y="202245"/>
                    <a:pt x="4358974" y="202245"/>
                  </a:cubicBezTo>
                  <a:lnTo>
                    <a:pt x="46286" y="202245"/>
                  </a:lnTo>
                  <a:cubicBezTo>
                    <a:pt x="20723" y="202245"/>
                    <a:pt x="0" y="181522"/>
                    <a:pt x="0" y="155959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6"/>
            <p:cNvSpPr txBox="1"/>
            <p:nvPr/>
          </p:nvSpPr>
          <p:spPr>
            <a:xfrm>
              <a:off x="0" y="-38100"/>
              <a:ext cx="4405260" cy="2403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6"/>
          <p:cNvSpPr txBox="1"/>
          <p:nvPr/>
        </p:nvSpPr>
        <p:spPr>
          <a:xfrm>
            <a:off x="13806186" y="9069705"/>
            <a:ext cx="3167364" cy="39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94BA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178" name="Google Shape;178;p6"/>
          <p:cNvSpPr txBox="1"/>
          <p:nvPr/>
        </p:nvSpPr>
        <p:spPr>
          <a:xfrm>
            <a:off x="1314450" y="9069705"/>
            <a:ext cx="2956891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94BA"/>
                </a:solidFill>
                <a:latin typeface="Arial"/>
                <a:ea typeface="Arial"/>
                <a:cs typeface="Arial"/>
                <a:sym typeface="Arial"/>
              </a:rPr>
              <a:t>2025 Aprill 23</a:t>
            </a:r>
            <a:endParaRPr sz="2400">
              <a:solidFill>
                <a:srgbClr val="4E94B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3352800" y="3776571"/>
            <a:ext cx="8277225" cy="151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94BA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t="-9220" b="-921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" name="Google Shape;186;p7"/>
          <p:cNvGrpSpPr/>
          <p:nvPr/>
        </p:nvGrpSpPr>
        <p:grpSpPr>
          <a:xfrm>
            <a:off x="780890" y="8729689"/>
            <a:ext cx="16726220" cy="912562"/>
            <a:chOff x="0" y="-38100"/>
            <a:chExt cx="4405260" cy="240345"/>
          </a:xfrm>
        </p:grpSpPr>
        <p:sp>
          <p:nvSpPr>
            <p:cNvPr id="187" name="Google Shape;187;p7"/>
            <p:cNvSpPr/>
            <p:nvPr/>
          </p:nvSpPr>
          <p:spPr>
            <a:xfrm>
              <a:off x="0" y="0"/>
              <a:ext cx="4405260" cy="202245"/>
            </a:xfrm>
            <a:custGeom>
              <a:avLst/>
              <a:gdLst/>
              <a:ahLst/>
              <a:cxnLst/>
              <a:rect l="l" t="t" r="r" b="b"/>
              <a:pathLst>
                <a:path w="4405260" h="202245" extrusionOk="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155959"/>
                  </a:lnTo>
                  <a:cubicBezTo>
                    <a:pt x="4405260" y="168235"/>
                    <a:pt x="4400383" y="180008"/>
                    <a:pt x="4391703" y="188689"/>
                  </a:cubicBezTo>
                  <a:cubicBezTo>
                    <a:pt x="4383022" y="197369"/>
                    <a:pt x="4371249" y="202245"/>
                    <a:pt x="4358974" y="202245"/>
                  </a:cubicBezTo>
                  <a:lnTo>
                    <a:pt x="46286" y="202245"/>
                  </a:lnTo>
                  <a:cubicBezTo>
                    <a:pt x="20723" y="202245"/>
                    <a:pt x="0" y="181522"/>
                    <a:pt x="0" y="155959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7"/>
            <p:cNvSpPr txBox="1"/>
            <p:nvPr/>
          </p:nvSpPr>
          <p:spPr>
            <a:xfrm>
              <a:off x="0" y="-38100"/>
              <a:ext cx="4405260" cy="2403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7"/>
          <p:cNvSpPr txBox="1"/>
          <p:nvPr/>
        </p:nvSpPr>
        <p:spPr>
          <a:xfrm>
            <a:off x="13806186" y="9069705"/>
            <a:ext cx="3167364" cy="39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94BA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grpSp>
        <p:nvGrpSpPr>
          <p:cNvPr id="190" name="Google Shape;190;p7"/>
          <p:cNvGrpSpPr/>
          <p:nvPr/>
        </p:nvGrpSpPr>
        <p:grpSpPr>
          <a:xfrm>
            <a:off x="780890" y="500089"/>
            <a:ext cx="16726220" cy="1813130"/>
            <a:chOff x="0" y="-38100"/>
            <a:chExt cx="4405260" cy="477532"/>
          </a:xfrm>
        </p:grpSpPr>
        <p:sp>
          <p:nvSpPr>
            <p:cNvPr id="191" name="Google Shape;191;p7"/>
            <p:cNvSpPr/>
            <p:nvPr/>
          </p:nvSpPr>
          <p:spPr>
            <a:xfrm>
              <a:off x="0" y="0"/>
              <a:ext cx="4405260" cy="439432"/>
            </a:xfrm>
            <a:custGeom>
              <a:avLst/>
              <a:gdLst/>
              <a:ahLst/>
              <a:cxnLst/>
              <a:rect l="l" t="t" r="r" b="b"/>
              <a:pathLst>
                <a:path w="4405260" h="439432" extrusionOk="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393146"/>
                  </a:lnTo>
                  <a:cubicBezTo>
                    <a:pt x="4405260" y="418709"/>
                    <a:pt x="4384537" y="439432"/>
                    <a:pt x="4358974" y="439432"/>
                  </a:cubicBezTo>
                  <a:lnTo>
                    <a:pt x="46286" y="439432"/>
                  </a:lnTo>
                  <a:cubicBezTo>
                    <a:pt x="20723" y="439432"/>
                    <a:pt x="0" y="418709"/>
                    <a:pt x="0" y="393146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7"/>
            <p:cNvSpPr txBox="1"/>
            <p:nvPr/>
          </p:nvSpPr>
          <p:spPr>
            <a:xfrm>
              <a:off x="0" y="-38100"/>
              <a:ext cx="4405260" cy="477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" name="Google Shape;193;p7"/>
          <p:cNvSpPr txBox="1"/>
          <p:nvPr/>
        </p:nvSpPr>
        <p:spPr>
          <a:xfrm>
            <a:off x="1687474" y="1290044"/>
            <a:ext cx="15286076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Future Improvements</a:t>
            </a:r>
            <a:endParaRPr/>
          </a:p>
        </p:txBody>
      </p:sp>
      <p:sp>
        <p:nvSpPr>
          <p:cNvPr id="194" name="Google Shape;194;p7"/>
          <p:cNvSpPr txBox="1"/>
          <p:nvPr/>
        </p:nvSpPr>
        <p:spPr>
          <a:xfrm>
            <a:off x="1314450" y="9069705"/>
            <a:ext cx="2956891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94BA"/>
                </a:solidFill>
                <a:latin typeface="Arial"/>
                <a:ea typeface="Arial"/>
                <a:cs typeface="Arial"/>
                <a:sym typeface="Arial"/>
              </a:rPr>
              <a:t>2025 Aprill 23</a:t>
            </a:r>
            <a:endParaRPr sz="2400">
              <a:solidFill>
                <a:srgbClr val="4E94B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1019175" y="2866940"/>
            <a:ext cx="16230600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2540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Expand question pool to support dynamic difficulty balancing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40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2540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Upgrade to an online quiz with database-backed leaderboard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94BA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t="-9220" b="-921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2" name="Google Shape;202;p8"/>
          <p:cNvGrpSpPr/>
          <p:nvPr/>
        </p:nvGrpSpPr>
        <p:grpSpPr>
          <a:xfrm>
            <a:off x="780890" y="8729689"/>
            <a:ext cx="16726220" cy="912562"/>
            <a:chOff x="0" y="-38100"/>
            <a:chExt cx="4405260" cy="240345"/>
          </a:xfrm>
        </p:grpSpPr>
        <p:sp>
          <p:nvSpPr>
            <p:cNvPr id="203" name="Google Shape;203;p8"/>
            <p:cNvSpPr/>
            <p:nvPr/>
          </p:nvSpPr>
          <p:spPr>
            <a:xfrm>
              <a:off x="0" y="0"/>
              <a:ext cx="4405260" cy="202245"/>
            </a:xfrm>
            <a:custGeom>
              <a:avLst/>
              <a:gdLst/>
              <a:ahLst/>
              <a:cxnLst/>
              <a:rect l="l" t="t" r="r" b="b"/>
              <a:pathLst>
                <a:path w="4405260" h="202245" extrusionOk="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155959"/>
                  </a:lnTo>
                  <a:cubicBezTo>
                    <a:pt x="4405260" y="168235"/>
                    <a:pt x="4400383" y="180008"/>
                    <a:pt x="4391703" y="188689"/>
                  </a:cubicBezTo>
                  <a:cubicBezTo>
                    <a:pt x="4383022" y="197369"/>
                    <a:pt x="4371249" y="202245"/>
                    <a:pt x="4358974" y="202245"/>
                  </a:cubicBezTo>
                  <a:lnTo>
                    <a:pt x="46286" y="202245"/>
                  </a:lnTo>
                  <a:cubicBezTo>
                    <a:pt x="20723" y="202245"/>
                    <a:pt x="0" y="181522"/>
                    <a:pt x="0" y="155959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8"/>
            <p:cNvSpPr txBox="1"/>
            <p:nvPr/>
          </p:nvSpPr>
          <p:spPr>
            <a:xfrm>
              <a:off x="0" y="-38100"/>
              <a:ext cx="4405260" cy="2403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p8"/>
          <p:cNvSpPr txBox="1"/>
          <p:nvPr/>
        </p:nvSpPr>
        <p:spPr>
          <a:xfrm>
            <a:off x="13806186" y="9069705"/>
            <a:ext cx="3167364" cy="39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94BA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grpSp>
        <p:nvGrpSpPr>
          <p:cNvPr id="206" name="Google Shape;206;p8"/>
          <p:cNvGrpSpPr/>
          <p:nvPr/>
        </p:nvGrpSpPr>
        <p:grpSpPr>
          <a:xfrm>
            <a:off x="780890" y="500089"/>
            <a:ext cx="16726220" cy="1813130"/>
            <a:chOff x="0" y="-38100"/>
            <a:chExt cx="4405260" cy="477532"/>
          </a:xfrm>
        </p:grpSpPr>
        <p:sp>
          <p:nvSpPr>
            <p:cNvPr id="207" name="Google Shape;207;p8"/>
            <p:cNvSpPr/>
            <p:nvPr/>
          </p:nvSpPr>
          <p:spPr>
            <a:xfrm>
              <a:off x="0" y="0"/>
              <a:ext cx="4405260" cy="439432"/>
            </a:xfrm>
            <a:custGeom>
              <a:avLst/>
              <a:gdLst/>
              <a:ahLst/>
              <a:cxnLst/>
              <a:rect l="l" t="t" r="r" b="b"/>
              <a:pathLst>
                <a:path w="4405260" h="439432" extrusionOk="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393146"/>
                  </a:lnTo>
                  <a:cubicBezTo>
                    <a:pt x="4405260" y="418709"/>
                    <a:pt x="4384537" y="439432"/>
                    <a:pt x="4358974" y="439432"/>
                  </a:cubicBezTo>
                  <a:lnTo>
                    <a:pt x="46286" y="439432"/>
                  </a:lnTo>
                  <a:cubicBezTo>
                    <a:pt x="20723" y="439432"/>
                    <a:pt x="0" y="418709"/>
                    <a:pt x="0" y="393146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8"/>
            <p:cNvSpPr txBox="1"/>
            <p:nvPr/>
          </p:nvSpPr>
          <p:spPr>
            <a:xfrm>
              <a:off x="0" y="-38100"/>
              <a:ext cx="4405260" cy="477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p8"/>
          <p:cNvSpPr txBox="1"/>
          <p:nvPr/>
        </p:nvSpPr>
        <p:spPr>
          <a:xfrm>
            <a:off x="1687474" y="1290044"/>
            <a:ext cx="15286076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210" name="Google Shape;210;p8"/>
          <p:cNvSpPr txBox="1"/>
          <p:nvPr/>
        </p:nvSpPr>
        <p:spPr>
          <a:xfrm>
            <a:off x="1314450" y="9069705"/>
            <a:ext cx="2956891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94BA"/>
                </a:solidFill>
                <a:latin typeface="Arial"/>
                <a:ea typeface="Arial"/>
                <a:cs typeface="Arial"/>
                <a:sym typeface="Arial"/>
              </a:rPr>
              <a:t>2025 Aprill 23</a:t>
            </a:r>
            <a:endParaRPr sz="2400">
              <a:solidFill>
                <a:srgbClr val="4E94B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1028700" y="2350945"/>
            <a:ext cx="16230600" cy="6386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marR="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Successfully implemented core features:</a:t>
            </a:r>
            <a:endParaRPr/>
          </a:p>
          <a:p>
            <a:pPr marL="9144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Char char="•"/>
            </a:pPr>
            <a:r>
              <a:rPr lang="en-US" sz="4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Timer-based gameplay and bonus scoring</a:t>
            </a:r>
            <a:endParaRPr/>
          </a:p>
          <a:p>
            <a:pPr marL="9144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Char char="•"/>
            </a:pPr>
            <a:r>
              <a:rPr lang="en-US" sz="4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Persistent leaderboard with file storage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Applied key programming concepts:</a:t>
            </a:r>
            <a:endParaRPr/>
          </a:p>
          <a:p>
            <a:pPr marL="9144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Char char="•"/>
            </a:pPr>
            <a:r>
              <a:rPr lang="en-US" sz="4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 flow, file I/O, and OOP encapsulation</a:t>
            </a:r>
            <a:endParaRPr/>
          </a:p>
          <a:p>
            <a:pPr marL="571500" marR="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Dynamic difficulty not yet applied due to limited question pool</a:t>
            </a:r>
            <a:endParaRPr/>
          </a:p>
          <a:p>
            <a:pPr marL="571500" marR="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is modular and ready for future expansion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20" b="-921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7" name="Google Shape;217;p9"/>
          <p:cNvGrpSpPr/>
          <p:nvPr/>
        </p:nvGrpSpPr>
        <p:grpSpPr>
          <a:xfrm>
            <a:off x="780890" y="8729689"/>
            <a:ext cx="16726220" cy="912562"/>
            <a:chOff x="0" y="-38100"/>
            <a:chExt cx="4405260" cy="240345"/>
          </a:xfrm>
        </p:grpSpPr>
        <p:sp>
          <p:nvSpPr>
            <p:cNvPr id="218" name="Google Shape;218;p9"/>
            <p:cNvSpPr/>
            <p:nvPr/>
          </p:nvSpPr>
          <p:spPr>
            <a:xfrm>
              <a:off x="0" y="0"/>
              <a:ext cx="4405260" cy="202245"/>
            </a:xfrm>
            <a:custGeom>
              <a:avLst/>
              <a:gdLst/>
              <a:ahLst/>
              <a:cxnLst/>
              <a:rect l="l" t="t" r="r" b="b"/>
              <a:pathLst>
                <a:path w="4405260" h="202245" extrusionOk="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155959"/>
                  </a:lnTo>
                  <a:cubicBezTo>
                    <a:pt x="4405260" y="168235"/>
                    <a:pt x="4400383" y="180008"/>
                    <a:pt x="4391703" y="188689"/>
                  </a:cubicBezTo>
                  <a:cubicBezTo>
                    <a:pt x="4383022" y="197369"/>
                    <a:pt x="4371249" y="202245"/>
                    <a:pt x="4358974" y="202245"/>
                  </a:cubicBezTo>
                  <a:lnTo>
                    <a:pt x="46286" y="202245"/>
                  </a:lnTo>
                  <a:cubicBezTo>
                    <a:pt x="20723" y="202245"/>
                    <a:pt x="0" y="181522"/>
                    <a:pt x="0" y="155959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9"/>
            <p:cNvSpPr txBox="1"/>
            <p:nvPr/>
          </p:nvSpPr>
          <p:spPr>
            <a:xfrm>
              <a:off x="0" y="-38100"/>
              <a:ext cx="4405260" cy="2403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9"/>
          <p:cNvSpPr txBox="1"/>
          <p:nvPr/>
        </p:nvSpPr>
        <p:spPr>
          <a:xfrm>
            <a:off x="6383503" y="3600308"/>
            <a:ext cx="5520993" cy="3324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61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End</a:t>
            </a:r>
            <a:endParaRPr/>
          </a:p>
        </p:txBody>
      </p:sp>
      <p:sp>
        <p:nvSpPr>
          <p:cNvPr id="221" name="Google Shape;221;p9"/>
          <p:cNvSpPr txBox="1"/>
          <p:nvPr/>
        </p:nvSpPr>
        <p:spPr>
          <a:xfrm>
            <a:off x="13806186" y="9069705"/>
            <a:ext cx="3167364" cy="39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94BA"/>
                </a:solidFill>
                <a:latin typeface="Arial"/>
                <a:ea typeface="Arial"/>
                <a:cs typeface="Arial"/>
                <a:sym typeface="Arial"/>
              </a:rPr>
              <a:t>Zhenghao Zhang</a:t>
            </a:r>
            <a:endParaRPr/>
          </a:p>
        </p:txBody>
      </p:sp>
      <p:grpSp>
        <p:nvGrpSpPr>
          <p:cNvPr id="222" name="Google Shape;222;p9"/>
          <p:cNvGrpSpPr/>
          <p:nvPr/>
        </p:nvGrpSpPr>
        <p:grpSpPr>
          <a:xfrm>
            <a:off x="780890" y="500089"/>
            <a:ext cx="16726220" cy="912562"/>
            <a:chOff x="0" y="-38100"/>
            <a:chExt cx="4405260" cy="240345"/>
          </a:xfrm>
        </p:grpSpPr>
        <p:sp>
          <p:nvSpPr>
            <p:cNvPr id="223" name="Google Shape;223;p9"/>
            <p:cNvSpPr/>
            <p:nvPr/>
          </p:nvSpPr>
          <p:spPr>
            <a:xfrm>
              <a:off x="0" y="0"/>
              <a:ext cx="4405260" cy="202245"/>
            </a:xfrm>
            <a:custGeom>
              <a:avLst/>
              <a:gdLst/>
              <a:ahLst/>
              <a:cxnLst/>
              <a:rect l="l" t="t" r="r" b="b"/>
              <a:pathLst>
                <a:path w="4405260" h="202245" extrusionOk="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155959"/>
                  </a:lnTo>
                  <a:cubicBezTo>
                    <a:pt x="4405260" y="168235"/>
                    <a:pt x="4400383" y="180008"/>
                    <a:pt x="4391703" y="188689"/>
                  </a:cubicBezTo>
                  <a:cubicBezTo>
                    <a:pt x="4383022" y="197369"/>
                    <a:pt x="4371249" y="202245"/>
                    <a:pt x="4358974" y="202245"/>
                  </a:cubicBezTo>
                  <a:lnTo>
                    <a:pt x="46286" y="202245"/>
                  </a:lnTo>
                  <a:cubicBezTo>
                    <a:pt x="20723" y="202245"/>
                    <a:pt x="0" y="181522"/>
                    <a:pt x="0" y="155959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9"/>
            <p:cNvSpPr txBox="1"/>
            <p:nvPr/>
          </p:nvSpPr>
          <p:spPr>
            <a:xfrm>
              <a:off x="0" y="-38100"/>
              <a:ext cx="4405260" cy="2403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p9"/>
          <p:cNvSpPr txBox="1"/>
          <p:nvPr/>
        </p:nvSpPr>
        <p:spPr>
          <a:xfrm>
            <a:off x="1314450" y="9069705"/>
            <a:ext cx="2956891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94BA"/>
                </a:solidFill>
                <a:latin typeface="Arial"/>
                <a:ea typeface="Arial"/>
                <a:cs typeface="Arial"/>
                <a:sym typeface="Arial"/>
              </a:rPr>
              <a:t>2025 Aprill 23</a:t>
            </a:r>
            <a:endParaRPr sz="2400">
              <a:solidFill>
                <a:srgbClr val="4E94B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</Words>
  <Application>Microsoft Macintosh PowerPoint</Application>
  <PresentationFormat>自定义</PresentationFormat>
  <Paragraphs>60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Zhenghao Zhang</cp:lastModifiedBy>
  <cp:revision>1</cp:revision>
  <dcterms:created xsi:type="dcterms:W3CDTF">2006-08-16T00:00:00Z</dcterms:created>
  <dcterms:modified xsi:type="dcterms:W3CDTF">2025-05-01T01:57:19Z</dcterms:modified>
</cp:coreProperties>
</file>